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0b30ba7d4402f" /><Relationship Type="http://schemas.openxmlformats.org/officeDocument/2006/relationships/extended-properties" Target="/docProps/app.xml" Id="Ra29bfa256eb34c2d" /><Relationship Type="http://schemas.openxmlformats.org/officeDocument/2006/relationships/officeDocument" Target="/ppt/presentation.xml" Id="R0248973d1d814a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093a65cfb64dfb"/>
  </p:sldMasterIdLst>
  <p:notesMasterIdLst>
    <p:notesMasterId xmlns:r="http://schemas.openxmlformats.org/officeDocument/2006/relationships" r:id="Rac783d6a8dce4636"/>
  </p:notesMasterIdLst>
  <p:sldIdLst>
    <p:sldId xmlns:r="http://schemas.openxmlformats.org/officeDocument/2006/relationships" id="256" r:id="R7bf573ed313d42b7"/>
    <p:sldId xmlns:r="http://schemas.openxmlformats.org/officeDocument/2006/relationships" id="257" r:id="R29e9369ee9e14fb5"/>
    <p:sldId xmlns:r="http://schemas.openxmlformats.org/officeDocument/2006/relationships" id="258" r:id="Rf9a1914fa19c4be8"/>
    <p:sldId xmlns:r="http://schemas.openxmlformats.org/officeDocument/2006/relationships" id="259" r:id="R8a916a62305c4a68"/>
    <p:sldId xmlns:r="http://schemas.openxmlformats.org/officeDocument/2006/relationships" id="260" r:id="R4926bd5f4202475f"/>
    <p:sldId xmlns:r="http://schemas.openxmlformats.org/officeDocument/2006/relationships" id="261" r:id="R9fff4115fb0841b1"/>
    <p:sldId xmlns:r="http://schemas.openxmlformats.org/officeDocument/2006/relationships" id="262" r:id="R1ce2971f9c0e4f85"/>
    <p:sldId xmlns:r="http://schemas.openxmlformats.org/officeDocument/2006/relationships" id="263" r:id="Reaa842925e314e74"/>
    <p:sldId xmlns:r="http://schemas.openxmlformats.org/officeDocument/2006/relationships" id="264" r:id="R252fc1dead284c64"/>
    <p:sldId xmlns:r="http://schemas.openxmlformats.org/officeDocument/2006/relationships" id="265" r:id="Rea3838bef61b460c"/>
    <p:sldId xmlns:r="http://schemas.openxmlformats.org/officeDocument/2006/relationships" id="266" r:id="Ra06b6bb22f054759"/>
    <p:sldId xmlns:r="http://schemas.openxmlformats.org/officeDocument/2006/relationships" id="267" r:id="R446740b091f54e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a56f59c24747b7" /><Relationship Type="http://schemas.openxmlformats.org/officeDocument/2006/relationships/slideMaster" Target="/ppt/slideMasters/slideMaster1.xml" Id="R6c093a65cfb64dfb" /><Relationship Type="http://schemas.openxmlformats.org/officeDocument/2006/relationships/notesMaster" Target="/ppt/notesMasters/notesMaster1.xml" Id="Rac783d6a8dce4636" /><Relationship Type="http://schemas.openxmlformats.org/officeDocument/2006/relationships/presProps" Target="/ppt/presProps.xml" Id="R97e4f79f10634f8b" /><Relationship Type="http://schemas.openxmlformats.org/officeDocument/2006/relationships/tableStyles" Target="/ppt/tableStyles.xml" Id="R9505b4e0f6dd40f6" /><Relationship Type="http://schemas.openxmlformats.org/officeDocument/2006/relationships/slide" Target="/ppt/slides/slide1.xml" Id="R7bf573ed313d42b7" /><Relationship Type="http://schemas.openxmlformats.org/officeDocument/2006/relationships/slide" Target="/ppt/slides/slide2.xml" Id="R29e9369ee9e14fb5" /><Relationship Type="http://schemas.openxmlformats.org/officeDocument/2006/relationships/slide" Target="/ppt/slides/slide3.xml" Id="Rf9a1914fa19c4be8" /><Relationship Type="http://schemas.openxmlformats.org/officeDocument/2006/relationships/slide" Target="/ppt/slides/slide4.xml" Id="R8a916a62305c4a68" /><Relationship Type="http://schemas.openxmlformats.org/officeDocument/2006/relationships/slide" Target="/ppt/slides/slide5.xml" Id="R4926bd5f4202475f" /><Relationship Type="http://schemas.openxmlformats.org/officeDocument/2006/relationships/slide" Target="/ppt/slides/slide6.xml" Id="R9fff4115fb0841b1" /><Relationship Type="http://schemas.openxmlformats.org/officeDocument/2006/relationships/slide" Target="/ppt/slides/slide7.xml" Id="R1ce2971f9c0e4f85" /><Relationship Type="http://schemas.openxmlformats.org/officeDocument/2006/relationships/slide" Target="/ppt/slides/slide8.xml" Id="Reaa842925e314e74" /><Relationship Type="http://schemas.openxmlformats.org/officeDocument/2006/relationships/slide" Target="/ppt/slides/slide9.xml" Id="R252fc1dead284c64" /><Relationship Type="http://schemas.openxmlformats.org/officeDocument/2006/relationships/slide" Target="/ppt/slides/slide10.xml" Id="Rea3838bef61b460c" /><Relationship Type="http://schemas.openxmlformats.org/officeDocument/2006/relationships/slide" Target="/ppt/slides/slide11.xml" Id="Ra06b6bb22f054759" /><Relationship Type="http://schemas.openxmlformats.org/officeDocument/2006/relationships/slide" Target="/ppt/slides/slide12.xml" Id="R446740b091f54e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0d5cb773e1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166741ffed4137" /><Relationship Type="http://schemas.openxmlformats.org/officeDocument/2006/relationships/notesMaster" Target="/ppt/notesMasters/notesMaster1.xml" Id="Rbe697a4b7d324d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9b58e646b14b1c" /><Relationship Type="http://schemas.openxmlformats.org/officeDocument/2006/relationships/notesMaster" Target="/ppt/notesMasters/notesMaster1.xml" Id="R88a6988988b347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76c69976ba4c4d" /><Relationship Type="http://schemas.openxmlformats.org/officeDocument/2006/relationships/notesMaster" Target="/ppt/notesMasters/notesMaster1.xml" Id="R54d2246e8b1b47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a25db51014120" /><Relationship Type="http://schemas.openxmlformats.org/officeDocument/2006/relationships/notesMaster" Target="/ppt/notesMasters/notesMaster1.xml" Id="R19faa99dd28248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0bdd1142f4c75" /><Relationship Type="http://schemas.openxmlformats.org/officeDocument/2006/relationships/notesMaster" Target="/ppt/notesMasters/notesMaster1.xml" Id="R34476d32d5b745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c9b97689ed4da2" /><Relationship Type="http://schemas.openxmlformats.org/officeDocument/2006/relationships/notesMaster" Target="/ppt/notesMasters/notesMaster1.xml" Id="R82a4eb21819a49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2a2b1ded4a46a0" /><Relationship Type="http://schemas.openxmlformats.org/officeDocument/2006/relationships/notesMaster" Target="/ppt/notesMasters/notesMaster1.xml" Id="R4b1de542f528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739e7a65c492a" /><Relationship Type="http://schemas.openxmlformats.org/officeDocument/2006/relationships/notesMaster" Target="/ppt/notesMasters/notesMaster1.xml" Id="R069d0286965542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390a0aed8141e8" /><Relationship Type="http://schemas.openxmlformats.org/officeDocument/2006/relationships/notesMaster" Target="/ppt/notesMasters/notesMaster1.xml" Id="R68c49e41f32f4f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fdcd6e16142ec" /><Relationship Type="http://schemas.openxmlformats.org/officeDocument/2006/relationships/notesMaster" Target="/ppt/notesMasters/notesMaster1.xml" Id="Raa04019e41e74e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da1fe84ad34dc9" /><Relationship Type="http://schemas.openxmlformats.org/officeDocument/2006/relationships/notesMaster" Target="/ppt/notesMasters/notesMaster1.xml" Id="R4a645d09cc4044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366a6f316c4405" /><Relationship Type="http://schemas.openxmlformats.org/officeDocument/2006/relationships/notesMaster" Target="/ppt/notesMasters/notesMaster1.xml" Id="R3f1a70984c56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Names and UCIDs: supplied Group 21 proposal. Dates: user-confirmed evaluation schedule. Prepared on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claim that Cloudflare lacks these algorithms or that this implementation is globally novel. The contribution is a reproducible student system and measured tradeoffs.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https://people.csail.mit.edu/karger/Papers/web.pdf ; https://arxiv.org/abs/1608.01350 ; https://ojs.aaai.org/index.php/AAAI/article/view/16517 ; https://research.google/pubs/cache-aware-load-balancing-of-data-center-applications/ ; https://www.vldb.org/pvldb/vol8/p886-vattani.pdf . See research-review.md for full citations and method distinctions.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component view of the implemented local Docker system. Control discovers/registers nodes and coordinates purge generations. Redis is persistent. Origin and edge cache bodies are the data path. Three routers are used by the experiment; one policy is exercised per 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Purges may wait for requests holding the cache read lock. Heartbeat recovery is eventual; no distributed gossip is implemented. No persistent disk cache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{"seed":2100260,"objects":256,"objectBytes":1024,"cacheBodyBytesPerEdge":65536,"concurrency":16,"repetitions":3,"originDelayMs":20,"cacheTTLSeconds":3600,"warmupRequests":0,"method":"closed-loop, cold cache per trial; single machine Docker; no network impairment","createdAt":"2026-10-10T10:39:01.730Z"}</a:t>
            </a:r>
          </a:p>
          <a:p xmlns:a="http://schemas.openxmlformats.org/drawingml/2006/main">
            <a:r>
              <a:t>Closed-loop test, no regional network impairment, no confidence interval from only three repetitions. Policy order rotates per repetition. All 36 trials had zero request/body-validation errors.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docs/academic/results/routing-comparison.json. Values are arithmetic means of three trial-level measurements per workload/policy, rounded to one decimal for the chart. Full measurements remain in JSON/CSV and below.</a:t>
            </a:r>
          </a:p>
          <a:p xmlns:a="http://schemas.openxmlformats.org/drawingml/2006/main">
            <a:r>
              <a:t>[{"workload":"uniform","values":[{"policy":"consistent_hash","mean":300.3333333333333,"runs":[288,301,312]},{"policy":"round_robin","mean":606,"runs":[595,613,610]},{"policy":"adaptive","mean":396,"runs":[381,394,413]}]},{"workload":"zipf","values":[{"policy":"consistent_hash","mean":151,"runs":[151,160,142]},{"policy":"round_robin","mean":265,"runs":[259,285,251]},{"policy":"adaptive","mean":179,"runs":[175,182,180]}]},{"workload":"changing_hot","values":[{"policy":"consistent_hash","mean":176.33333333333334,"runs":[178,176,175]},{"policy":"round_robin","mean":312.6666666666667,"runs":[309,320,309]},{"policy":"adaptive","mean":218.66666666666666,"runs":[215,221,220]}]},{"workload":"cold_burst","values":[{"policy":"consistent_hash","mean":1,"runs":[1,1,1]},{"policy":"round_robin","mean":3,"runs":[3,3,3]},{"policy":"adaptive","mean":3,"runs":[3,3,3]}]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docs/academic/results/routing-comparison.json. Values are arithmetic means of three trial-level measurements per workload/policy, rounded to one decimal for the chart. Full measurements remain in JSON/CSV and below.</a:t>
            </a:r>
          </a:p>
          <a:p xmlns:a="http://schemas.openxmlformats.org/drawingml/2006/main">
            <a:r>
              <a:t>[{"workload":"uniform","values":[{"policy":"consistent_hash","mean":235.3838999999998,"runs":[216.35069999999996,259.75180000000546,230.04919999999402]},{"policy":"round_robin","mean":314.6221000000002,"runs":[455.27070000000003,217.06410000000324,271.5314999999973]},{"policy":"adaptive","mean":232.01666666666702,"runs":[129.71390000000065,197.32050000000163,369.0155999999988]}]},{"workload":"zipf","values":[{"policy":"consistent_hash","mean":130.2943333333363,"runs":[88.12060000000201,92.22479999999632,210.53760000001057]},{"policy":"round_robin","mean":145.98946666666356,"runs":[123.71659999999974,104.02829999999813,210.22349999999278]},{"policy":"adaptive","mean":161.79176666666294,"runs":[99.30609999999797,121.77470000000176,264.29449999998906]}]},{"workload":"changing_hot","values":[{"policy":"consistent_hash","mean":198.88716666667096,"runs":[164.58680000000095,232.766100000008,199.30860000000393]},{"policy":"round_robin","mean":243.166999999994,"runs":[146.85059999999794,182.24989999999525,400.4004999999888]},{"policy":"adaptive","mean":265.13190000000395,"runs":[222.0033000000003,132.26410000000033,441.1283000000112]}]},{"workload":"cold_burst","values":[{"policy":"consistent_hash","mean":118.15506666666624,"runs":[65.46639999999752,165.24280000000726,123.75599999999395]},{"policy":"round_robin","mean":113.98919999999634,"runs":[55.95549999999639,56.12510000000475,229.8869999999879]},{"policy":"adaptive","mean":195.49830000000657,"runs":[70.77820000000065,66.74640000000363,448.9703000000154]}]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docs/academic/results/integration-check.json, executed 10 October 2026. The 567 ms measurement starts after docker stop finishes. It is one request, not a failover detection-delay distribution or availability guarantee. Coalescing regression: 32 concurrent requests, 32 baseline origin fetches vs 1 coordinated fetch.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dates from user chat; rubrics have blank date fields. Institution requires real plagiarism evidence and signatures. No VPS purchased, DNS changed or public dashboard deployed. Hosting should follow a stable local demo and authentication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ecda542f847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06a8131ed46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715b5d2614a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94a4a932040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09079f5f840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61bfee9314b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08DF6-C59B-4D2F-B0A7-5EE74F31F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D66E14-033F-4B3E-AED1-D43EB6C8B4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0C8E74-667E-4543-96C0-2B6B70C5CD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1F13A8-826A-4722-A686-1254CBF0A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EE21EF-634C-4873-827F-DEAC0B7DB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F1CA90-2760-4416-A428-CA7324B12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3F5236-045F-42E5-96FE-6394EEB14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52B294-29A0-43E5-B9AA-4E3B8ED2A9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9027A8-A003-4A07-86A6-A5992F26E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FD79B6-2969-4D08-9CF1-5CD9F47053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5a62b1bd64a76" /><Relationship Type="http://schemas.openxmlformats.org/officeDocument/2006/relationships/slideLayout" Target="/ppt/slideLayouts/slideLayout1.xml" Id="Rfde3c3860765452e" /><Relationship Type="http://schemas.openxmlformats.org/officeDocument/2006/relationships/slideLayout" Target="/ppt/slideLayouts/slideLayout2.xml" Id="R8777798857b1488f" /><Relationship Type="http://schemas.openxmlformats.org/officeDocument/2006/relationships/slideLayout" Target="/ppt/slideLayouts/slideLayout3.xml" Id="R14880aded7bf4e83" /><Relationship Type="http://schemas.openxmlformats.org/officeDocument/2006/relationships/slideLayout" Target="/ppt/slideLayouts/slideLayout4.xml" Id="Rf2edfeccc3b14007" /><Relationship Type="http://schemas.openxmlformats.org/officeDocument/2006/relationships/slideLayout" Target="/ppt/slideLayouts/slideLayout5.xml" Id="R799b66821ccf46f1" /><Relationship Type="http://schemas.openxmlformats.org/officeDocument/2006/relationships/slideLayout" Target="/ppt/slideLayouts/slideLayout6.xml" Id="Rd397ed21ca72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3c3860765452e"/>
    <p:sldLayoutId xmlns:r="http://schemas.openxmlformats.org/officeDocument/2006/relationships" id="2147483650" r:id="R8777798857b1488f"/>
    <p:sldLayoutId xmlns:r="http://schemas.openxmlformats.org/officeDocument/2006/relationships" id="2147483651" r:id="R14880aded7bf4e83"/>
    <p:sldLayoutId xmlns:r="http://schemas.openxmlformats.org/officeDocument/2006/relationships" id="2147483652" r:id="Rf2edfeccc3b14007"/>
    <p:sldLayoutId xmlns:r="http://schemas.openxmlformats.org/officeDocument/2006/relationships" id="2147483653" r:id="R799b66821ccf46f1"/>
    <p:sldLayoutId xmlns:r="http://schemas.openxmlformats.org/officeDocument/2006/relationships" id="2147483654" r:id="Rd397ed21ca72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d91a424f84443" /><Relationship Type="http://schemas.openxmlformats.org/officeDocument/2006/relationships/notesSlide" Target="/ppt/notesSlides/notesSlide1.xml" Id="R41e754f4ac6a42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41b63dee44522" /><Relationship Type="http://schemas.openxmlformats.org/officeDocument/2006/relationships/notesSlide" Target="/ppt/notesSlides/notesSlide2.xml" Id="Rb7187303ded748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78dc4ccdd4154" /><Relationship Type="http://schemas.openxmlformats.org/officeDocument/2006/relationships/notesSlide" Target="/ppt/notesSlides/notesSlide3.xml" Id="R2afd16928bbe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63149fbd54e6b" /><Relationship Type="http://schemas.openxmlformats.org/officeDocument/2006/relationships/notesSlide" Target="/ppt/notesSlides/notesSlide4.xml" Id="R11743698e3824c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c6d90274c4896" /><Relationship Type="http://schemas.openxmlformats.org/officeDocument/2006/relationships/notesSlide" Target="/ppt/notesSlides/notesSlide5.xml" Id="R79a9d0cf83b44f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13ca069864bdc" /><Relationship Type="http://schemas.openxmlformats.org/officeDocument/2006/relationships/notesSlide" Target="/ppt/notesSlides/notesSlide6.xml" Id="R99e84f04d01444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9051c177a43c9" /><Relationship Type="http://schemas.openxmlformats.org/officeDocument/2006/relationships/notesSlide" Target="/ppt/notesSlides/notesSlide7.xml" Id="Rf4138384ad8e44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a71c80a8b4b38" /><Relationship Type="http://schemas.openxmlformats.org/officeDocument/2006/relationships/chart" Target="/ppt/slides/charts/chart1.xml" Id="R474e9374cd2b42a0" /><Relationship Type="http://schemas.openxmlformats.org/officeDocument/2006/relationships/notesSlide" Target="/ppt/notesSlides/notesSlide8.xml" Id="R1005155c9b534a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e752e4444416b" /><Relationship Type="http://schemas.openxmlformats.org/officeDocument/2006/relationships/chart" Target="/ppt/slides/charts/chart2.xml" Id="Rc713dd95716e4f26" /><Relationship Type="http://schemas.openxmlformats.org/officeDocument/2006/relationships/notesSlide" Target="/ppt/notesSlides/notesSlide9.xml" Id="Rb0a38c6e217148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2ba6d8a68487c" /><Relationship Type="http://schemas.openxmlformats.org/officeDocument/2006/relationships/notesSlide" Target="/ppt/notesSlides/notesSlide10.xml" Id="Rae911c7721984f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119cb3da64356" /><Relationship Type="http://schemas.openxmlformats.org/officeDocument/2006/relationships/notesSlide" Target="/ppt/notesSlides/notesSlide11.xml" Id="R6d51e24ec80845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cba4450964043" /><Relationship Type="http://schemas.openxmlformats.org/officeDocument/2006/relationships/notesSlide" Target="/ppt/notesSlides/notesSlide12.xml" Id="Ra54283e30a104d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Consistent hash</c:v>
          </c:tx>
          <c:spPr>
            <a:solidFill xmlns:a="http://schemas.openxmlformats.org/drawingml/2006/main">
              <a:srgbClr val="176B79"/>
            </a:solidFill>
          </c:spPr>
          <c:cat>
            <c:strRef>
              <c:f>'Chart Data'!$A$2:$A$5</c:f>
              <c:strCache>
                <c:ptCount val="4"/>
                <c:pt idx="0">
                  <c:v>Uniform</c:v>
                </c:pt>
                <c:pt idx="1">
                  <c:v>Zipf</c:v>
                </c:pt>
                <c:pt idx="2">
                  <c:v>Changing hot</c:v>
                </c:pt>
                <c:pt idx="3">
                  <c:v>Cold burst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300.3</c:v>
                </c:pt>
                <c:pt idx="1">
                  <c:v>151</c:v>
                </c:pt>
                <c:pt idx="2">
                  <c:v>176.3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v>Round robin</c:v>
          </c:tx>
          <c:spPr>
            <a:solidFill xmlns:a="http://schemas.openxmlformats.org/drawingml/2006/main">
              <a:srgbClr val="B86B38"/>
            </a:solidFill>
          </c:spPr>
          <c:cat>
            <c:strRef>
              <c:f>'Chart Data'!$C$2:$C$5</c:f>
              <c:strCache>
                <c:ptCount val="4"/>
                <c:pt idx="0">
                  <c:v>Uniform</c:v>
                </c:pt>
                <c:pt idx="1">
                  <c:v>Zipf</c:v>
                </c:pt>
                <c:pt idx="2">
                  <c:v>Changing hot</c:v>
                </c:pt>
                <c:pt idx="3">
                  <c:v>Cold burst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606</c:v>
                </c:pt>
                <c:pt idx="1">
                  <c:v>265</c:v>
                </c:pt>
                <c:pt idx="2">
                  <c:v>312.7</c:v>
                </c:pt>
                <c:pt idx="3">
                  <c:v>3</c:v>
                </c:pt>
              </c:numCache>
            </c:numRef>
          </c:val>
        </c:ser>
        <c:ser>
          <c:idx val="2"/>
          <c:order val="2"/>
          <c:tx>
            <c:v>Adaptive</c:v>
          </c:tx>
          <c:spPr>
            <a:solidFill xmlns:a="http://schemas.openxmlformats.org/drawingml/2006/main">
              <a:srgbClr val="6B70AA"/>
            </a:solidFill>
          </c:spPr>
          <c:cat>
            <c:strRef>
              <c:f>'Chart Data'!$E$2:$E$5</c:f>
              <c:strCache>
                <c:ptCount val="4"/>
                <c:pt idx="0">
                  <c:v>Uniform</c:v>
                </c:pt>
                <c:pt idx="1">
                  <c:v>Zipf</c:v>
                </c:pt>
                <c:pt idx="2">
                  <c:v>Changing hot</c:v>
                </c:pt>
                <c:pt idx="3">
                  <c:v>Cold burst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396</c:v>
                </c:pt>
                <c:pt idx="1">
                  <c:v>179</c:v>
                </c:pt>
                <c:pt idx="2">
                  <c:v>218.7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2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Consistent hash</c:v>
          </c:tx>
          <c:spPr>
            <a:solidFill xmlns:a="http://schemas.openxmlformats.org/drawingml/2006/main">
              <a:srgbClr val="176B79"/>
            </a:solidFill>
          </c:spPr>
          <c:cat>
            <c:strRef>
              <c:f>'Chart Data'!$A$2:$A$5</c:f>
              <c:strCache>
                <c:ptCount val="4"/>
                <c:pt idx="0">
                  <c:v>Uniform</c:v>
                </c:pt>
                <c:pt idx="1">
                  <c:v>Zipf</c:v>
                </c:pt>
                <c:pt idx="2">
                  <c:v>Changing hot</c:v>
                </c:pt>
                <c:pt idx="3">
                  <c:v>Cold burst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235.4</c:v>
                </c:pt>
                <c:pt idx="1">
                  <c:v>130.3</c:v>
                </c:pt>
                <c:pt idx="2">
                  <c:v>198.9</c:v>
                </c:pt>
                <c:pt idx="3">
                  <c:v>118.2</c:v>
                </c:pt>
              </c:numCache>
            </c:numRef>
          </c:val>
        </c:ser>
        <c:ser>
          <c:idx val="1"/>
          <c:order val="1"/>
          <c:tx>
            <c:v>Round robin</c:v>
          </c:tx>
          <c:spPr>
            <a:solidFill xmlns:a="http://schemas.openxmlformats.org/drawingml/2006/main">
              <a:srgbClr val="B86B38"/>
            </a:solidFill>
          </c:spPr>
          <c:cat>
            <c:strRef>
              <c:f>'Chart Data'!$C$2:$C$5</c:f>
              <c:strCache>
                <c:ptCount val="4"/>
                <c:pt idx="0">
                  <c:v>Uniform</c:v>
                </c:pt>
                <c:pt idx="1">
                  <c:v>Zipf</c:v>
                </c:pt>
                <c:pt idx="2">
                  <c:v>Changing hot</c:v>
                </c:pt>
                <c:pt idx="3">
                  <c:v>Cold burst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314.6</c:v>
                </c:pt>
                <c:pt idx="1">
                  <c:v>146</c:v>
                </c:pt>
                <c:pt idx="2">
                  <c:v>243.2</c:v>
                </c:pt>
                <c:pt idx="3">
                  <c:v>114</c:v>
                </c:pt>
              </c:numCache>
            </c:numRef>
          </c:val>
        </c:ser>
        <c:ser>
          <c:idx val="2"/>
          <c:order val="2"/>
          <c:tx>
            <c:v>Adaptive</c:v>
          </c:tx>
          <c:spPr>
            <a:solidFill xmlns:a="http://schemas.openxmlformats.org/drawingml/2006/main">
              <a:srgbClr val="6B70AA"/>
            </a:solidFill>
          </c:spPr>
          <c:cat>
            <c:strRef>
              <c:f>'Chart Data'!$E$2:$E$5</c:f>
              <c:strCache>
                <c:ptCount val="4"/>
                <c:pt idx="0">
                  <c:v>Uniform</c:v>
                </c:pt>
                <c:pt idx="1">
                  <c:v>Zipf</c:v>
                </c:pt>
                <c:pt idx="2">
                  <c:v>Changing hot</c:v>
                </c:pt>
                <c:pt idx="3">
                  <c:v>Cold burst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232</c:v>
                </c:pt>
                <c:pt idx="1">
                  <c:v>161.8</c:v>
                </c:pt>
                <c:pt idx="2">
                  <c:v>265.1</c:v>
                </c:pt>
                <c:pt idx="3">
                  <c:v>195.5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2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92F74-1EB3-426E-A599-02939C3B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MiniCDN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3E25F-0144-45A6-AD31-31CBF4F9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7506B-C730-452B-8FFB-1EA89E9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1CE26-04FB-4028-B7F3-D13D8F95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Cache locality, request balance</a:t>
            </a:r>
          </a:p>
          <a:p xmlns:a="http://schemas.openxmlformats.org/drawingml/2006/main">
            <a:pPr>
              <a:defRPr sz="39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and failure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98FFD-D8C3-4377-BCD5-CA743B1B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Jaynish Thakar • Anshul Warade • Parth Thakkar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601B5-2092-4E67-B2EF-743AE261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6B79"/>
                </a:solidFill>
                <a:latin typeface="Arial"/>
                <a:ea typeface="Arial"/>
                <a:cs typeface="Arial"/>
              </a:rPr>
              <a:t>Guide: Dr. Sudhir N. Dhage</a:t>
            </a:r>
          </a:p>
        </p:txBody>
      </p:sp>
    </p:spTree>
    <p:extLst>
      <p:ext uri="{BB962C8B-B14F-4D97-AF65-F5344CB8AC3E}">
        <p14:creationId xmlns:p14="http://schemas.microsoft.com/office/powerpoint/2010/main" val="63380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4DFD-3AF4-4B2E-B051-B931DD83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Problem and project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A3A18-7655-4909-BCB4-B021D1F0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4C126-8FDD-4C96-ADB1-D40D4AA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97E50-4886-4F36-BFFB-137BB8B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Repeated content should reuse cached copies; hot keys can concentrate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562A2-7AEE-4588-BAD5-52E9918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Compare routing policies using identical requests, cache budgets and origin delay.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9D4C2-2A99-44E5-BB3F-B93AD7F2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Expose latency, origin work and failures in a reproducible Go + Docker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5B254-B9D5-4B4C-8F6A-80F2339B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Contribution: transparent experimental evidence and recovery mechanisms.</a:t>
            </a:r>
          </a:p>
        </p:txBody>
      </p:sp>
    </p:spTree>
    <p:extLst>
      <p:ext uri="{BB962C8B-B14F-4D97-AF65-F5344CB8AC3E}">
        <p14:creationId xmlns:p14="http://schemas.microsoft.com/office/powerpoint/2010/main" val="990961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EFDCA-A25D-4820-9744-0B0CB4D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Five papers and implementation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958D-5433-4F5A-AFF7-86FE753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70D5A-F5E3-46CA-86CB-D3204B18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E3D12-7A04-408A-AE39-97B95E016420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E1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What we investigate</a:t>
                      </a:r>
                    </a:p>
                  </a:txBody>
                  <a:tcPr marL="91440" marR="91440" marT="45720" marB="45720">
                    <a:solidFill>
                      <a:srgbClr val="E1EFF2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Karger et al., 1997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Consistent hashing and content locality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Mirrokni et al., 2018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Load limits; our heuristic has no theorem guarantee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Chen et al., 2021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Avoid cascaded overflow; measure spillover costs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Archer et al., 2019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Cache benefit alongside request balance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Vattani et al., 2015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Stampedes; singleflight implemented, XFetch deferred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51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FB597-2B9F-4916-A7C0-B3FDEC7F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Routing policies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16CA2-837A-4E6E-87EC-D4513F99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CC650-183E-43DB-B609-C31F17F4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CF33D-D3A5-4651-A89C-F1EAB365C253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95750"/>
                <a:gridCol w="4495800"/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E1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>
                    <a:solidFill>
                      <a:srgbClr val="E1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Expected tradeoff</a:t>
                      </a:r>
                    </a:p>
                  </a:txBody>
                  <a:tcPr marL="91440" marR="91440" marT="45720" marB="45720">
                    <a:solidFill>
                      <a:srgbClr val="E1EFF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Round robin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Rotate across healthy edges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Even request count; duplicate copies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Consistent hashing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Keep key on ring 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Locality; hot-key concentration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Adaptive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Spill when owner load exceeds minimum + 2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384A"/>
                          </a:solidFill>
                          <a:latin typeface="Arial"/>
                          <a:ea typeface="Arial"/>
                          <a:cs typeface="Arial"/>
                        </a:rPr>
                        <a:t>Lower imbalance; extra misses possible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7D703-B14C-4621-A55B-036DDF2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6B79"/>
                </a:solidFill>
                <a:latin typeface="Arial"/>
                <a:ea typeface="Arial"/>
                <a:cs typeface="Arial"/>
              </a:rPr>
              <a:t>Load = current in-flight requests, not bytes, CPU or object count</a:t>
            </a:r>
          </a:p>
        </p:txBody>
      </p:sp>
    </p:spTree>
    <p:extLst>
      <p:ext uri="{BB962C8B-B14F-4D97-AF65-F5344CB8AC3E}">
        <p14:creationId xmlns:p14="http://schemas.microsoft.com/office/powerpoint/2010/main" val="2026801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55993-6C8B-49C5-ACF1-1F8C093923D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6072188" y="4076700"/>
            <a:ext cx="3714750" cy="923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C5665-D499-4202-957F-351D634DA56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429250" y="2362200"/>
            <a:ext cx="4357688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1B622-A2C2-4FFA-ABED-03C79B493FC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72188" y="40767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6D95A-8AD0-4F43-A184-8998E4ACAB4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429250" y="2362200"/>
            <a:ext cx="642938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6879C-AB72-49C5-9A74-81B903FC7ED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357438" y="4076700"/>
            <a:ext cx="3714750" cy="923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B3535-DA12-4978-8852-0185F41FE89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357438" y="2362200"/>
            <a:ext cx="3071813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80988-B030-41FF-AF59-9DCCC2884C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67500" y="19907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01F2F-7BE1-4BEB-9796-430955686BF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907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47E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20593-3AD3-4F3B-92B8-889A89C7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3CD3D-CF8C-41E8-936F-0645E68F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A9CD9-2245-44E6-AB0C-734A415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26E5F-90A5-427F-8781-107C94FE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2"/>
          </a:solidFill>
          <a:ln xmlns:a="http://schemas.openxmlformats.org/drawingml/2006/main" w="9525">
            <a:solidFill>
              <a:srgbClr val="176B79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84A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1AFB7-A34C-46FE-9258-1D49FE82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2"/>
          </a:solidFill>
          <a:ln xmlns:a="http://schemas.openxmlformats.org/drawingml/2006/main" w="9525">
            <a:solidFill>
              <a:srgbClr val="176B79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84A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0E99F-3943-45EA-9A59-65CF3AB4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286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2"/>
          </a:solidFill>
          <a:ln xmlns:a="http://schemas.openxmlformats.org/drawingml/2006/main" w="9525">
            <a:solidFill>
              <a:srgbClr val="176B79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84A"/>
                </a:solidFill>
                <a:latin typeface="Arial"/>
                <a:ea typeface="Arial"/>
                <a:cs typeface="Arial"/>
              </a:rPr>
              <a:t>Control + Redis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D86D5-55FB-4B94-BA12-8101FE86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809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2"/>
          </a:solidFill>
          <a:ln xmlns:a="http://schemas.openxmlformats.org/drawingml/2006/main" w="9525">
            <a:solidFill>
              <a:srgbClr val="176B79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84A"/>
                </a:solidFill>
                <a:latin typeface="Arial"/>
                <a:ea typeface="Arial"/>
                <a:cs typeface="Arial"/>
              </a:rPr>
              <a:t>Edge 1: LRU + fills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B038-2A68-4FF0-A2B2-E1232453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09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2"/>
          </a:solidFill>
          <a:ln xmlns:a="http://schemas.openxmlformats.org/drawingml/2006/main" w="9525">
            <a:solidFill>
              <a:srgbClr val="176B79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84A"/>
                </a:solidFill>
                <a:latin typeface="Arial"/>
                <a:ea typeface="Arial"/>
                <a:cs typeface="Arial"/>
              </a:rPr>
              <a:t>Edge 2: LRU + fills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67FEE-EFB4-4EF6-AF4C-075D522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809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2"/>
          </a:solidFill>
          <a:ln xmlns:a="http://schemas.openxmlformats.org/drawingml/2006/main" w="9525">
            <a:solidFill>
              <a:srgbClr val="176B79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84A"/>
                </a:solidFill>
                <a:latin typeface="Arial"/>
                <a:ea typeface="Arial"/>
                <a:cs typeface="Arial"/>
              </a:rPr>
              <a:t>Edge 3: LRU + fills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46DF6-485F-4AC7-8BC5-91003FFE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00625"/>
            <a:ext cx="2809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2"/>
          </a:solidFill>
          <a:ln xmlns:a="http://schemas.openxmlformats.org/drawingml/2006/main" w="9525">
            <a:solidFill>
              <a:srgbClr val="176B79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84A"/>
                </a:solidFill>
                <a:latin typeface="Arial"/>
                <a:ea typeface="Arial"/>
                <a:cs typeface="Arial"/>
              </a:rPr>
              <a:t>Origin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1EEC7-8BDE-4D07-9488-199115D6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6B79"/>
                </a:solidFill>
                <a:latin typeface="Arial"/>
                <a:ea typeface="Arial"/>
                <a:cs typeface="Arial"/>
              </a:rPr>
              <a:t>Prometheus scrapes routers and edges; Grafana displays the metrics</a:t>
            </a:r>
          </a:p>
        </p:txBody>
      </p:sp>
    </p:spTree>
    <p:extLst>
      <p:ext uri="{BB962C8B-B14F-4D97-AF65-F5344CB8AC3E}">
        <p14:creationId xmlns:p14="http://schemas.microsoft.com/office/powerpoint/2010/main" val="1521269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8A315-D9F2-4095-9782-3E61786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Cache and control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1A425-DEB7-467A-AEA3-72DF7655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47C70-D5BD-4D54-9BD7-BF424FA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05CCF-047D-405E-BBB5-F583275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Bounded memory LRU and oversized-object streaming keep cached bodies within budget.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3A7AC-30C8-44FB-BF34-2FDE58B6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Per-key fill gates suppress duplicate origin work on one 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27E84-7335-477C-A221-FE9B308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TTL + ETag validation renew expired content; private responses bypass shared caching.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D0BB9-1E79-4E59-A21A-26CC0C7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Redis purge generations recover missed invalidations on successful heartbeats.</a:t>
            </a:r>
          </a:p>
        </p:txBody>
      </p:sp>
    </p:spTree>
    <p:extLst>
      <p:ext uri="{BB962C8B-B14F-4D97-AF65-F5344CB8AC3E}">
        <p14:creationId xmlns:p14="http://schemas.microsoft.com/office/powerpoint/2010/main" val="1737857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F5EB0-41D2-467B-8241-ECFEF09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Experiment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DE8E6-E9E4-456A-B83E-5906F75C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3F526-C593-4126-81CF-41C35C57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C388D-3E95-48E8-B5E2-C78939F5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36 trials: 3 policies × 4 workloads × 3 repetitions; 27,648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8E8A5-BFCC-4EC4-8E23-03680B0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256 one-KiB objects; each edge caches 64 KiB; concurrency 16.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A4992-2568-4826-83D1-B13EE16F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Uniform, Zipf, changing hot set and one-key cold burst; seeded request traces.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01E2A-8CC7-410B-ABEE-8A77904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Cold cache each trial; 20 ms synthetic origin delay; single-machine Docker.</a:t>
            </a:r>
          </a:p>
        </p:txBody>
      </p:sp>
    </p:spTree>
    <p:extLst>
      <p:ext uri="{BB962C8B-B14F-4D97-AF65-F5344CB8AC3E}">
        <p14:creationId xmlns:p14="http://schemas.microsoft.com/office/powerpoint/2010/main" val="412407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99135-78D7-49BA-AF6E-E566F15C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Origin fetches per 768 requests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F1032-FB14-4D32-B028-F3CD2B18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52AE-0782-4E4F-AA60-2635923F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5898355-7C76-4852-AE5D-9A3158BE7BDA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4e9374cd2b42a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E6B35-1D93-48FB-B52C-032DE6D2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6B79"/>
                </a:solidFill>
                <a:latin typeface="Arial"/>
                <a:ea typeface="Arial"/>
                <a:cs typeface="Arial"/>
              </a:rPr>
              <a:t>Consistent hashing used fewer origin fetches in these workloads</a:t>
            </a:r>
          </a:p>
        </p:txBody>
      </p:sp>
    </p:spTree>
    <p:extLst>
      <p:ext uri="{BB962C8B-B14F-4D97-AF65-F5344CB8AC3E}">
        <p14:creationId xmlns:p14="http://schemas.microsoft.com/office/powerpoint/2010/main" val="16801068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91EFA-7964-4719-8278-ED93530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P95 request latency (milliseconds)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502EB-0EA8-478D-9E95-6CE0E92B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7303F-5F54-4847-934C-62E45E9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F8AC06D-57CB-47AF-BB4C-8BCAE5D385A9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13dd95716e4f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E5304-57BD-4E03-BE2A-13550F3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6B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6B79"/>
                </a:solidFill>
                <a:latin typeface="Arial"/>
                <a:ea typeface="Arial"/>
                <a:cs typeface="Arial"/>
              </a:rPr>
              <a:t>Host variability and workload affect latency; adaptive did not win consistently</a:t>
            </a:r>
          </a:p>
        </p:txBody>
      </p:sp>
    </p:spTree>
    <p:extLst>
      <p:ext uri="{BB962C8B-B14F-4D97-AF65-F5344CB8AC3E}">
        <p14:creationId xmlns:p14="http://schemas.microsoft.com/office/powerpoint/2010/main" val="1008859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28FB0-FC11-4DA2-8C07-19BD318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Integration and failure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3A814-386F-4DD9-A806-8CA63197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9D6BA-AD81-462B-9637-A8F62B8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F890-7075-48E5-B3AA-585AAF2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16 live checks passed, including HIT/MISS, HEAD, ETag and bypass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C2B37-E25C-4D94-9579-0B8EB7F6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A request after its edge was stopped completed in 567 ms through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D660F-28BC-4E1A-A512-857F1EC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A disconnected edge missed a purge, then recovered without restarting its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A2BEF-C838-442D-A59E-4A88F0C3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Go tests and Linux Go 1.21 race tests passed; cold-burst regression repeated 10 times.</a:t>
            </a:r>
          </a:p>
        </p:txBody>
      </p:sp>
    </p:spTree>
    <p:extLst>
      <p:ext uri="{BB962C8B-B14F-4D97-AF65-F5344CB8AC3E}">
        <p14:creationId xmlns:p14="http://schemas.microsoft.com/office/powerpoint/2010/main" val="12787387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DABD3-7CB8-4F35-9C7F-8B18061B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9E535-1503-4EC1-8BD1-66A42D42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834EB-A9B2-46E6-ABE5-5A155A3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638BE-C9B0-4D99-8EBF-AC30604B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Grafana: http://localhost:3000/d/minicdn-dashboard/mini-cdn-overview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915FE-1A68-4F57-A24C-BA717B2E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Request content twice and inspect cache responses and origin counters.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A4C1F-9EDE-4B8B-BFDB-F0C5039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Show policy comparison CSV; stop an edge and demonstrate fallback.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92C3F-341F-473C-89D6-6165D23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Show partial purge failure and heartbeat recovery; restore the edge.</a:t>
            </a:r>
          </a:p>
        </p:txBody>
      </p:sp>
    </p:spTree>
    <p:extLst>
      <p:ext uri="{BB962C8B-B14F-4D97-AF65-F5344CB8AC3E}">
        <p14:creationId xmlns:p14="http://schemas.microsoft.com/office/powerpoint/2010/main" val="2013275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083BA-487A-4776-B56F-55ED54EA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84A"/>
                </a:solidFill>
                <a:latin typeface="Arial"/>
                <a:ea typeface="Arial"/>
                <a:cs typeface="Arial"/>
              </a:rPr>
              <a:t>Remaining 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449B8-6CA5-4ECD-9FBA-FEAA09E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MiniCDN | Group 21 | Phase IV | 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DFE5C-C33B-4500-9B49-19CD622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74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4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C6B7F-A31F-4E61-86EB-086FB63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Phase IV, 12 October: report, integration evidence, presentation and rehearsed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61367-6F5C-4C34-99ED-FCD2477F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ESE, 2 November: 12-paper survey, 25–40 page report, poster and viva preparation.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40749-A6AB-4E72-B0C3-DBC73FB5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Disk cache, broader workload sensitivity and multi-host testing remain open.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64945-3A59-4828-A18C-561936C1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A"/>
                </a:solidFill>
                <a:latin typeface="Arial"/>
                <a:ea typeface="Arial"/>
                <a:cs typeface="Arial"/>
              </a:rPr>
              <a:t>metrics.jaynishthakar.tech: deployment files prepared; VPS and DNS still needed.</a:t>
            </a:r>
          </a:p>
        </p:txBody>
      </p:sp>
    </p:spTree>
    <p:extLst>
      <p:ext uri="{BB962C8B-B14F-4D97-AF65-F5344CB8AC3E}">
        <p14:creationId xmlns:p14="http://schemas.microsoft.com/office/powerpoint/2010/main" val="149192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2026-10-10T10:54:17.9080000Z</dcterms:created>
  <dcterms:modified xsi:type="dcterms:W3CDTF">2026-10-10T10:54:17.9100000Z</dcterms:modified>
</coreProperties>
</file>